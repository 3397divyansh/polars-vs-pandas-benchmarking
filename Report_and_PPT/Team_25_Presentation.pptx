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y="6858000" cx="9144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6" roundtripDataSignature="AMtx7mgpm46fknJ4y4FWGYMk0gVnQT5n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4E2E9B5-BE97-4B30-92D1-BA3247CBB36A}">
  <a:tblStyle styleId="{94E2E9B5-BE97-4B30-92D1-BA3247CBB36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6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281488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1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1" name="Google Shape;151;p1:notes"/>
          <p:cNvSpPr txBox="1"/>
          <p:nvPr>
            <p:ph idx="11" type="ftr"/>
          </p:nvPr>
        </p:nvSpPr>
        <p:spPr>
          <a:xfrm>
            <a:off x="0" y="10155238"/>
            <a:ext cx="32766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Name of the faculty [Group: G00] [Sem:2nd]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6d8059ffb_0_1132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e6d8059ffb_0_1132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e6d8059ffb_0_1117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e6d8059ffb_0_1117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e6d8059ffb_0_158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e6d8059ffb_0_158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e6d8059ffb_0_1144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e6d8059ffb_0_1144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e6d8059ffb_0_1151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e6d8059ffb_0_1151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e6d8059ffb_0_164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e6d8059ffb_0_164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3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"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3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3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2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4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2"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3"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4"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5"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6"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6d8059ffb_0_561"/>
          <p:cNvSpPr txBox="1"/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g3e6d8059ffb_0_561"/>
          <p:cNvSpPr txBox="1"/>
          <p:nvPr>
            <p:ph idx="1" type="subTitle"/>
          </p:nvPr>
        </p:nvSpPr>
        <p:spPr>
          <a:xfrm>
            <a:off x="457200" y="1604520"/>
            <a:ext cx="82293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6d8059ffb_0_564"/>
          <p:cNvSpPr txBox="1"/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g3e6d8059ffb_0_564"/>
          <p:cNvSpPr txBox="1"/>
          <p:nvPr>
            <p:ph idx="1" type="body"/>
          </p:nvPr>
        </p:nvSpPr>
        <p:spPr>
          <a:xfrm>
            <a:off x="457200" y="1604520"/>
            <a:ext cx="82293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6d8059ffb_0_567"/>
          <p:cNvSpPr txBox="1"/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g3e6d8059ffb_0_567"/>
          <p:cNvSpPr txBox="1"/>
          <p:nvPr>
            <p:ph idx="1" type="body"/>
          </p:nvPr>
        </p:nvSpPr>
        <p:spPr>
          <a:xfrm>
            <a:off x="457200" y="1604520"/>
            <a:ext cx="40158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g3e6d8059ffb_0_567"/>
          <p:cNvSpPr txBox="1"/>
          <p:nvPr>
            <p:ph idx="2" type="body"/>
          </p:nvPr>
        </p:nvSpPr>
        <p:spPr>
          <a:xfrm>
            <a:off x="4674240" y="1604520"/>
            <a:ext cx="40158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6d8059ffb_0_571"/>
          <p:cNvSpPr txBox="1"/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6d8059ffb_0_573"/>
          <p:cNvSpPr txBox="1"/>
          <p:nvPr>
            <p:ph idx="1" type="subTitle"/>
          </p:nvPr>
        </p:nvSpPr>
        <p:spPr>
          <a:xfrm>
            <a:off x="0" y="0"/>
            <a:ext cx="5486100" cy="42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6d8059ffb_0_575"/>
          <p:cNvSpPr txBox="1"/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g3e6d8059ffb_0_575"/>
          <p:cNvSpPr txBox="1"/>
          <p:nvPr>
            <p:ph idx="1" type="body"/>
          </p:nvPr>
        </p:nvSpPr>
        <p:spPr>
          <a:xfrm>
            <a:off x="457200" y="1604520"/>
            <a:ext cx="40158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g3e6d8059ffb_0_575"/>
          <p:cNvSpPr txBox="1"/>
          <p:nvPr>
            <p:ph idx="2" type="body"/>
          </p:nvPr>
        </p:nvSpPr>
        <p:spPr>
          <a:xfrm>
            <a:off x="4674240" y="1604520"/>
            <a:ext cx="40158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g3e6d8059ffb_0_575"/>
          <p:cNvSpPr txBox="1"/>
          <p:nvPr>
            <p:ph idx="3" type="body"/>
          </p:nvPr>
        </p:nvSpPr>
        <p:spPr>
          <a:xfrm>
            <a:off x="457200" y="3682080"/>
            <a:ext cx="40158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6d8059ffb_0_580"/>
          <p:cNvSpPr txBox="1"/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g3e6d8059ffb_0_580"/>
          <p:cNvSpPr txBox="1"/>
          <p:nvPr>
            <p:ph idx="1" type="body"/>
          </p:nvPr>
        </p:nvSpPr>
        <p:spPr>
          <a:xfrm>
            <a:off x="457200" y="1604520"/>
            <a:ext cx="40158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g3e6d8059ffb_0_580"/>
          <p:cNvSpPr txBox="1"/>
          <p:nvPr>
            <p:ph idx="2" type="body"/>
          </p:nvPr>
        </p:nvSpPr>
        <p:spPr>
          <a:xfrm>
            <a:off x="4674240" y="1604520"/>
            <a:ext cx="40158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g3e6d8059ffb_0_580"/>
          <p:cNvSpPr txBox="1"/>
          <p:nvPr>
            <p:ph idx="3" type="body"/>
          </p:nvPr>
        </p:nvSpPr>
        <p:spPr>
          <a:xfrm>
            <a:off x="4674240" y="3682080"/>
            <a:ext cx="40158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6d8059ffb_0_585"/>
          <p:cNvSpPr txBox="1"/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g3e6d8059ffb_0_585"/>
          <p:cNvSpPr txBox="1"/>
          <p:nvPr>
            <p:ph idx="1" type="body"/>
          </p:nvPr>
        </p:nvSpPr>
        <p:spPr>
          <a:xfrm>
            <a:off x="457200" y="1604520"/>
            <a:ext cx="40158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g3e6d8059ffb_0_585"/>
          <p:cNvSpPr txBox="1"/>
          <p:nvPr>
            <p:ph idx="2" type="body"/>
          </p:nvPr>
        </p:nvSpPr>
        <p:spPr>
          <a:xfrm>
            <a:off x="4674240" y="1604520"/>
            <a:ext cx="40158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g3e6d8059ffb_0_585"/>
          <p:cNvSpPr txBox="1"/>
          <p:nvPr>
            <p:ph idx="3" type="body"/>
          </p:nvPr>
        </p:nvSpPr>
        <p:spPr>
          <a:xfrm>
            <a:off x="457200" y="3682080"/>
            <a:ext cx="82293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e6d8059ffb_0_590"/>
          <p:cNvSpPr txBox="1"/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g3e6d8059ffb_0_590"/>
          <p:cNvSpPr txBox="1"/>
          <p:nvPr>
            <p:ph idx="1" type="body"/>
          </p:nvPr>
        </p:nvSpPr>
        <p:spPr>
          <a:xfrm>
            <a:off x="457200" y="1604520"/>
            <a:ext cx="82293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2" name="Google Shape;132;g3e6d8059ffb_0_590"/>
          <p:cNvSpPr txBox="1"/>
          <p:nvPr>
            <p:ph idx="2" type="body"/>
          </p:nvPr>
        </p:nvSpPr>
        <p:spPr>
          <a:xfrm>
            <a:off x="457200" y="3682080"/>
            <a:ext cx="82293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6d8059ffb_0_594"/>
          <p:cNvSpPr txBox="1"/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g3e6d8059ffb_0_594"/>
          <p:cNvSpPr txBox="1"/>
          <p:nvPr>
            <p:ph idx="1" type="body"/>
          </p:nvPr>
        </p:nvSpPr>
        <p:spPr>
          <a:xfrm>
            <a:off x="457200" y="1604520"/>
            <a:ext cx="40158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g3e6d8059ffb_0_594"/>
          <p:cNvSpPr txBox="1"/>
          <p:nvPr>
            <p:ph idx="2" type="body"/>
          </p:nvPr>
        </p:nvSpPr>
        <p:spPr>
          <a:xfrm>
            <a:off x="4674240" y="1604520"/>
            <a:ext cx="40158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g3e6d8059ffb_0_594"/>
          <p:cNvSpPr txBox="1"/>
          <p:nvPr>
            <p:ph idx="3" type="body"/>
          </p:nvPr>
        </p:nvSpPr>
        <p:spPr>
          <a:xfrm>
            <a:off x="457200" y="3682080"/>
            <a:ext cx="40158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8" name="Google Shape;138;g3e6d8059ffb_0_594"/>
          <p:cNvSpPr txBox="1"/>
          <p:nvPr>
            <p:ph idx="4" type="body"/>
          </p:nvPr>
        </p:nvSpPr>
        <p:spPr>
          <a:xfrm>
            <a:off x="4674240" y="3682080"/>
            <a:ext cx="40158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6d8059ffb_0_600"/>
          <p:cNvSpPr txBox="1"/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g3e6d8059ffb_0_600"/>
          <p:cNvSpPr txBox="1"/>
          <p:nvPr>
            <p:ph idx="1" type="body"/>
          </p:nvPr>
        </p:nvSpPr>
        <p:spPr>
          <a:xfrm>
            <a:off x="457200" y="1604520"/>
            <a:ext cx="26496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2" name="Google Shape;142;g3e6d8059ffb_0_600"/>
          <p:cNvSpPr txBox="1"/>
          <p:nvPr>
            <p:ph idx="2" type="body"/>
          </p:nvPr>
        </p:nvSpPr>
        <p:spPr>
          <a:xfrm>
            <a:off x="3239640" y="1604520"/>
            <a:ext cx="26496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3" name="Google Shape;143;g3e6d8059ffb_0_600"/>
          <p:cNvSpPr txBox="1"/>
          <p:nvPr>
            <p:ph idx="3" type="body"/>
          </p:nvPr>
        </p:nvSpPr>
        <p:spPr>
          <a:xfrm>
            <a:off x="6022080" y="1604520"/>
            <a:ext cx="26496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4" name="Google Shape;144;g3e6d8059ffb_0_600"/>
          <p:cNvSpPr txBox="1"/>
          <p:nvPr>
            <p:ph idx="4" type="body"/>
          </p:nvPr>
        </p:nvSpPr>
        <p:spPr>
          <a:xfrm>
            <a:off x="457200" y="3682080"/>
            <a:ext cx="26496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5" name="Google Shape;145;g3e6d8059ffb_0_600"/>
          <p:cNvSpPr txBox="1"/>
          <p:nvPr>
            <p:ph idx="5" type="body"/>
          </p:nvPr>
        </p:nvSpPr>
        <p:spPr>
          <a:xfrm>
            <a:off x="3239640" y="3682080"/>
            <a:ext cx="26496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g3e6d8059ffb_0_600"/>
          <p:cNvSpPr txBox="1"/>
          <p:nvPr>
            <p:ph idx="6" type="body"/>
          </p:nvPr>
        </p:nvSpPr>
        <p:spPr>
          <a:xfrm>
            <a:off x="6022080" y="3682080"/>
            <a:ext cx="26496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png"/><Relationship Id="rId2" Type="http://schemas.openxmlformats.org/officeDocument/2006/relationships/image" Target="../media/image2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image" Target="../media/image2.jp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4"/>
          <p:cNvSpPr/>
          <p:nvPr/>
        </p:nvSpPr>
        <p:spPr>
          <a:xfrm flipH="1" rot="10800000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.gif" id="12" name="Google Shape;12;p4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3" name="Google Shape;13;p4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4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5" name="Google Shape;15;p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LOGO.gif" id="16" name="Google Shape;16;p4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4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logo.jpg" id="18" name="Google Shape;1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9" name="Google Shape;19;p4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oogle Shape;20;p4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21" name="Google Shape;21;p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LOGO.gif" id="22" name="Google Shape;22;p4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Google Shape;23;p4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logo.jpg" id="24" name="Google Shape;24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"/>
          <p:cNvSpPr txBox="1"/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e6d8059ffb_0_539"/>
          <p:cNvSpPr/>
          <p:nvPr/>
        </p:nvSpPr>
        <p:spPr>
          <a:xfrm>
            <a:off x="0" y="0"/>
            <a:ext cx="9143700" cy="8376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g3e6d8059ffb_0_539"/>
          <p:cNvSpPr/>
          <p:nvPr/>
        </p:nvSpPr>
        <p:spPr>
          <a:xfrm flipH="1" rot="10800000">
            <a:off x="0" y="6704580"/>
            <a:ext cx="9143700" cy="1977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.gif" id="81" name="Google Shape;81;g3e6d8059ffb_0_539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39" cy="634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82" name="Google Shape;82;g3e6d8059ffb_0_539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39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3" name="Google Shape;83;g3e6d8059ffb_0_539"/>
          <p:cNvGrpSpPr/>
          <p:nvPr/>
        </p:nvGrpSpPr>
        <p:grpSpPr>
          <a:xfrm>
            <a:off x="6146640" y="0"/>
            <a:ext cx="2997000" cy="875940"/>
            <a:chOff x="6146640" y="0"/>
            <a:chExt cx="2997000" cy="875940"/>
          </a:xfrm>
        </p:grpSpPr>
        <p:sp>
          <p:nvSpPr>
            <p:cNvPr id="84" name="Google Shape;84;g3e6d8059ffb_0_539"/>
            <p:cNvSpPr/>
            <p:nvPr/>
          </p:nvSpPr>
          <p:spPr>
            <a:xfrm>
              <a:off x="6146640" y="0"/>
              <a:ext cx="2997000" cy="8376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LOGO.gif" id="85" name="Google Shape;85;g3e6d8059ffb_0_539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39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" name="Google Shape;86;g3e6d8059ffb_0_539"/>
            <p:cNvSpPr/>
            <p:nvPr/>
          </p:nvSpPr>
          <p:spPr>
            <a:xfrm>
              <a:off x="6527880" y="190440"/>
              <a:ext cx="2076000" cy="685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logo.jpg" id="87" name="Google Shape;87;g3e6d8059ffb_0_5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88" name="Google Shape;88;g3e6d8059ffb_0_539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39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" name="Google Shape;89;g3e6d8059ffb_0_539"/>
          <p:cNvGrpSpPr/>
          <p:nvPr/>
        </p:nvGrpSpPr>
        <p:grpSpPr>
          <a:xfrm>
            <a:off x="6146640" y="0"/>
            <a:ext cx="2997000" cy="875940"/>
            <a:chOff x="6146640" y="0"/>
            <a:chExt cx="2997000" cy="875940"/>
          </a:xfrm>
        </p:grpSpPr>
        <p:sp>
          <p:nvSpPr>
            <p:cNvPr id="90" name="Google Shape;90;g3e6d8059ffb_0_539"/>
            <p:cNvSpPr/>
            <p:nvPr/>
          </p:nvSpPr>
          <p:spPr>
            <a:xfrm>
              <a:off x="6146640" y="0"/>
              <a:ext cx="2997000" cy="8376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LOGO.gif" id="91" name="Google Shape;91;g3e6d8059ffb_0_539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39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" name="Google Shape;92;g3e6d8059ffb_0_539"/>
            <p:cNvSpPr/>
            <p:nvPr/>
          </p:nvSpPr>
          <p:spPr>
            <a:xfrm>
              <a:off x="6527880" y="190440"/>
              <a:ext cx="2076000" cy="685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logo.jpg" id="93" name="Google Shape;93;g3e6d8059ffb_0_5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g3e6d8059ffb_0_539"/>
          <p:cNvSpPr txBox="1"/>
          <p:nvPr>
            <p:ph type="title"/>
          </p:nvPr>
        </p:nvSpPr>
        <p:spPr>
          <a:xfrm>
            <a:off x="0" y="0"/>
            <a:ext cx="64767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5" name="Google Shape;95;g3e6d8059ffb_0_539"/>
          <p:cNvSpPr txBox="1"/>
          <p:nvPr>
            <p:ph idx="1" type="body"/>
          </p:nvPr>
        </p:nvSpPr>
        <p:spPr>
          <a:xfrm>
            <a:off x="457200" y="1371600"/>
            <a:ext cx="8229300" cy="45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6" name="Google Shape;96;g3e6d8059ffb_0_539"/>
          <p:cNvSpPr txBox="1"/>
          <p:nvPr>
            <p:ph idx="10" type="dt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g3e6d8059ffb_0_539"/>
          <p:cNvSpPr txBox="1"/>
          <p:nvPr>
            <p:ph idx="11" type="ftr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" name="Google Shape;98;g3e6d8059ffb_0_539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"/>
          <p:cNvSpPr txBox="1"/>
          <p:nvPr/>
        </p:nvSpPr>
        <p:spPr>
          <a:xfrm>
            <a:off x="0" y="840631"/>
            <a:ext cx="9144000" cy="53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Presentation of CO-OP Project at Industry (Module-2) (22CS421)</a:t>
            </a:r>
            <a:endParaRPr b="1" sz="153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endParaRPr b="0"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Comparative Analysis of Polars and Pandas Performance for Data-Intensive Tasks in FastAPI Microservices</a:t>
            </a:r>
            <a:endParaRPr b="1" sz="306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225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Submitted By:</a:t>
            </a:r>
            <a:endParaRPr b="0"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Navjot Singh (2210991964)</a:t>
            </a:r>
            <a:endParaRPr b="0" sz="153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Divyansh (2210991535)</a:t>
            </a:r>
            <a:endParaRPr b="0" sz="153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Bhavik Sharma (2210990217)</a:t>
            </a:r>
            <a:endParaRPr b="0" sz="153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</a:t>
            </a:r>
            <a:endParaRPr b="0"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Prof. Dr. S. B. Goyal</a:t>
            </a:r>
            <a:endParaRPr b="0"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Dean, Department of Computer Science &amp; Engineering</a:t>
            </a:r>
            <a:endParaRPr b="0" sz="136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3000"/>
              </a:spcBef>
              <a:spcAft>
                <a:spcPts val="0"/>
              </a:spcAft>
              <a:buNone/>
            </a:pPr>
            <a:r>
              <a:rPr b="0" lang="en-US" sz="187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Engineering,</a:t>
            </a:r>
            <a:endParaRPr b="0" sz="187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</a:t>
            </a:r>
            <a:endParaRPr b="0" sz="187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e6d8059ffb_0_1132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g3e6d8059ffb_0_1132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g3e6d8059ffb_0_1132"/>
          <p:cNvSpPr txBox="1"/>
          <p:nvPr/>
        </p:nvSpPr>
        <p:spPr>
          <a:xfrm>
            <a:off x="381000" y="1214438"/>
            <a:ext cx="8158200" cy="476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190500" lIns="190500" spcFirstLastPara="1" rIns="190500" wrap="square" tIns="190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8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Modern microservice architectures rely on high-concurrency, low-latency data processing, often utilizing frameworks like FastAPI.</a:t>
            </a:r>
            <a:endParaRPr b="0" sz="148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US" sz="148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libraries like Pandas, while popular, face significant architectural constraints:</a:t>
            </a:r>
            <a:endParaRPr b="0" sz="148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2580" lvl="0" marL="457200" rtl="0" algn="l">
              <a:spcBef>
                <a:spcPts val="900"/>
              </a:spcBef>
              <a:spcAft>
                <a:spcPts val="0"/>
              </a:spcAft>
              <a:buClr>
                <a:srgbClr val="333333"/>
              </a:buClr>
              <a:buSzPts val="1480"/>
              <a:buFont typeface="Times New Roman"/>
              <a:buChar char="●"/>
            </a:pPr>
            <a:r>
              <a:rPr b="1" lang="en-US" sz="148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Eager Evaluation:</a:t>
            </a:r>
            <a:r>
              <a:rPr b="0" lang="en-US" sz="148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Relies on in-memory data duplication.</a:t>
            </a:r>
            <a:endParaRPr b="0" sz="148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2580" lvl="0" marL="457200" rtl="0" algn="l">
              <a:spcBef>
                <a:spcPts val="900"/>
              </a:spcBef>
              <a:spcAft>
                <a:spcPts val="0"/>
              </a:spcAft>
              <a:buClr>
                <a:srgbClr val="333333"/>
              </a:buClr>
              <a:buSzPts val="1480"/>
              <a:buFont typeface="Times New Roman"/>
              <a:buChar char="●"/>
            </a:pPr>
            <a:r>
              <a:rPr b="1" lang="en-US" sz="148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GIL Constraints:</a:t>
            </a:r>
            <a:r>
              <a:rPr b="0" lang="en-US" sz="148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Single-threaded execution leads to bottlenecks in asynchronous environments.</a:t>
            </a:r>
            <a:endParaRPr b="0" sz="148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2580" lvl="0" marL="457200" rtl="0" algn="l">
              <a:spcBef>
                <a:spcPts val="900"/>
              </a:spcBef>
              <a:spcAft>
                <a:spcPts val="0"/>
              </a:spcAft>
              <a:buClr>
                <a:srgbClr val="333333"/>
              </a:buClr>
              <a:buSzPts val="1480"/>
              <a:buFont typeface="Times New Roman"/>
              <a:buChar char="●"/>
            </a:pPr>
            <a:r>
              <a:rPr b="1" lang="en-US" sz="148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Resource Intensive:</a:t>
            </a:r>
            <a:r>
              <a:rPr b="0" lang="en-US" sz="148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Prone to Out-of-Memory (OOM) failures under concurrent traffic.</a:t>
            </a:r>
            <a:endParaRPr b="0" sz="148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US" sz="148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Polars emerges as a powerful alternative, written in Rust, leveraging multithreading and lazy evaluation to maximize efficiency.</a:t>
            </a:r>
            <a:endParaRPr b="0" sz="148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US" sz="14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 Objective:</a:t>
            </a:r>
            <a:r>
              <a:rPr b="0" lang="en-US" sz="148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empirically compare the performance and resource utilization of Pandas and Polars when deployed as synchronous and asynchronous endpoints within FastAPI-based microservices under varying, simulated concurrent workloads.</a:t>
            </a:r>
            <a:endParaRPr b="0" sz="148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1" name="Google Shape;161;g3e6d8059ffb_0_11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3425" y="4676950"/>
            <a:ext cx="3112299" cy="195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e6d8059ffb_0_1117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 Stack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g3e6d8059ffb_0_1117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g3e6d8059ffb_0_1117"/>
          <p:cNvSpPr txBox="1"/>
          <p:nvPr/>
        </p:nvSpPr>
        <p:spPr>
          <a:xfrm>
            <a:off x="190700" y="1162375"/>
            <a:ext cx="4092300" cy="39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500"/>
              <a:buChar char="●"/>
            </a:pPr>
            <a:r>
              <a:rPr b="1" lang="en-US" sz="15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Programming Languages:</a:t>
            </a:r>
            <a:r>
              <a:rPr lang="en-US" sz="15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5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US" sz="15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3.10+</a:t>
            </a:r>
            <a:endParaRPr sz="15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US" sz="15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(for k6 load scripts)</a:t>
            </a:r>
            <a:endParaRPr sz="15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Char char="●"/>
            </a:pPr>
            <a:r>
              <a:rPr b="1" lang="en-US" sz="15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 Framework:</a:t>
            </a:r>
            <a:r>
              <a:rPr lang="en-US" sz="15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5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US" sz="15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FastAPI</a:t>
            </a:r>
            <a:endParaRPr sz="15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US" sz="15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Uvicorn (ASGI server)</a:t>
            </a:r>
            <a:endParaRPr sz="15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Char char="●"/>
            </a:pPr>
            <a:r>
              <a:rPr b="1" lang="en-US" sz="15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Processing Engines:</a:t>
            </a:r>
            <a:r>
              <a:rPr lang="en-US" sz="15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5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US" sz="15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Pandas</a:t>
            </a:r>
            <a:endParaRPr sz="15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US" sz="15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Polars</a:t>
            </a:r>
            <a:endParaRPr sz="15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US" sz="15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PyArrow / fastparquet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g3e6d8059ffb_0_1117"/>
          <p:cNvSpPr txBox="1"/>
          <p:nvPr/>
        </p:nvSpPr>
        <p:spPr>
          <a:xfrm>
            <a:off x="4878875" y="1162375"/>
            <a:ext cx="3000000" cy="3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500"/>
              <a:buChar char="●"/>
            </a:pPr>
            <a:r>
              <a:rPr b="1" lang="en-US" sz="15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Containerization:</a:t>
            </a:r>
            <a:r>
              <a:rPr lang="en-US" sz="15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5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US" sz="15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Docker, </a:t>
            </a:r>
            <a:endParaRPr sz="15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US" sz="15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Docker Compose</a:t>
            </a:r>
            <a:endParaRPr sz="15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Char char="●"/>
            </a:pPr>
            <a:r>
              <a:rPr b="1" lang="en-US" sz="15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Load Testing:</a:t>
            </a:r>
            <a:r>
              <a:rPr lang="en-US" sz="15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5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US" sz="15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k6 (by Grafana Labs)</a:t>
            </a:r>
            <a:endParaRPr sz="15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Char char="●"/>
            </a:pPr>
            <a:r>
              <a:rPr b="1" lang="en-US" sz="15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Visualization:</a:t>
            </a:r>
            <a:r>
              <a:rPr lang="en-US" sz="15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5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US" sz="15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Matplotlib</a:t>
            </a:r>
            <a:endParaRPr sz="15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US" sz="15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Seaborn</a:t>
            </a:r>
            <a:endParaRPr sz="15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Char char="●"/>
            </a:pPr>
            <a:r>
              <a:rPr b="1" lang="en-US" sz="15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Development Environment:</a:t>
            </a:r>
            <a:r>
              <a:rPr lang="en-US" sz="15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5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US" sz="15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Windows Subsystem for Linux (WSL)</a:t>
            </a:r>
            <a:endParaRPr sz="1500">
              <a:solidFill>
                <a:srgbClr val="1F1F1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-US" sz="15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VS Code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0" name="Google Shape;170;g3e6d8059ffb_0_11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325" y="5081875"/>
            <a:ext cx="1015600" cy="101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g3e6d8059ffb_0_11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07350" y="4997452"/>
            <a:ext cx="1104433" cy="110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g3e6d8059ffb_0_11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98600" y="4823450"/>
            <a:ext cx="2611875" cy="137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g3e6d8059ffb_0_11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15950" y="4830550"/>
            <a:ext cx="2611874" cy="11941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e6d8059ffb_0_158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Experiment Methodology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g3e6d8059ffb_0_158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80" name="Google Shape;180;g3e6d8059ffb_0_158"/>
          <p:cNvGraphicFramePr/>
          <p:nvPr/>
        </p:nvGraphicFramePr>
        <p:xfrm>
          <a:off x="842925" y="1908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{94E2E9B5-BE97-4B30-92D1-BA3247CBB36A}</a:tableStyleId>
              </a:tblPr>
              <a:tblGrid>
                <a:gridCol w="2486050"/>
                <a:gridCol w="2486050"/>
                <a:gridCol w="2486050"/>
              </a:tblGrid>
              <a:tr h="1124950">
                <a:tc>
                  <a:txBody>
                    <a:bodyPr/>
                    <a:lstStyle/>
                    <a:p>
                      <a:pPr indent="0" lvl="0" marL="0" marR="292100" rtl="0" algn="l">
                        <a:lnSpc>
                          <a:spcPct val="115000"/>
                        </a:lnSpc>
                        <a:spcBef>
                          <a:spcPts val="1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Heavy Joins </a:t>
                      </a:r>
                      <a:endParaRPr b="1" sz="16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  <a:p>
                      <a:pPr indent="0" lvl="0" marL="0" marR="292100" rtl="0" algn="l">
                        <a:lnSpc>
                          <a:spcPct val="115000"/>
                        </a:lnSpc>
                        <a:spcBef>
                          <a:spcPts val="1400"/>
                        </a:spcBef>
                        <a:spcAft>
                          <a:spcPts val="8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Inner merges across multiple tables (Orders, Customers, Products) testing memory duplication.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292100" marR="292100" rtl="0" algn="l">
                        <a:lnSpc>
                          <a:spcPct val="115000"/>
                        </a:lnSpc>
                        <a:spcBef>
                          <a:spcPts val="1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Aggregations </a:t>
                      </a:r>
                      <a:endParaRPr b="1" sz="16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  <a:p>
                      <a:pPr indent="0" lvl="0" marL="292100" marR="292100" rtl="0" algn="l">
                        <a:lnSpc>
                          <a:spcPct val="115000"/>
                        </a:lnSpc>
                        <a:spcBef>
                          <a:spcPts val="14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High-cardinality multi-dimensional grouping with unique counts and hashing efficiency.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292100" marR="292100" rtl="0" algn="l">
                        <a:lnSpc>
                          <a:spcPct val="115000"/>
                        </a:lnSpc>
                        <a:spcBef>
                          <a:spcPts val="1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Window Functions </a:t>
                      </a:r>
                      <a:endParaRPr b="1" sz="16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  <a:p>
                      <a:pPr indent="0" lvl="0" marL="292100" marR="292100" rtl="0" algn="l">
                        <a:lnSpc>
                          <a:spcPct val="115000"/>
                        </a:lnSpc>
                        <a:spcBef>
                          <a:spcPts val="1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Dense rankings partitioned by region, testing sequential processing vs vectorization.</a:t>
                      </a:r>
                      <a:endParaRPr sz="12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81775">
                <a:tc>
                  <a:txBody>
                    <a:bodyPr/>
                    <a:lstStyle/>
                    <a:p>
                      <a:pPr indent="0" lvl="0" marL="0" marR="292100" rtl="0" algn="l">
                        <a:lnSpc>
                          <a:spcPct val="115000"/>
                        </a:lnSpc>
                        <a:spcBef>
                          <a:spcPts val="1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String Processing </a:t>
                      </a:r>
                      <a:endParaRPr b="1" sz="16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  <a:p>
                      <a:pPr indent="0" lvl="0" marL="0" marR="292100" rtl="0" algn="l">
                        <a:lnSpc>
                          <a:spcPct val="115000"/>
                        </a:lnSpc>
                        <a:spcBef>
                          <a:spcPts val="1400"/>
                        </a:spcBef>
                        <a:spcAft>
                          <a:spcPts val="8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Extracting substring features (email domains) testing Apache Arrow vs Python objects.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292100" marR="292100" rtl="0" algn="l">
                        <a:lnSpc>
                          <a:spcPct val="115000"/>
                        </a:lnSpc>
                        <a:spcBef>
                          <a:spcPts val="1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Time-Series </a:t>
                      </a:r>
                      <a:endParaRPr b="1" sz="16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  <a:p>
                      <a:pPr indent="0" lvl="0" marL="292100" marR="292100" rtl="0" algn="l">
                        <a:lnSpc>
                          <a:spcPct val="115000"/>
                        </a:lnSpc>
                        <a:spcBef>
                          <a:spcPts val="1400"/>
                        </a:spcBef>
                        <a:spcAft>
                          <a:spcPts val="8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Temporal alignment and dynamic downsampling with rolling-window computations.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292100" marR="292100" rtl="0" algn="l">
                        <a:lnSpc>
                          <a:spcPct val="115000"/>
                        </a:lnSpc>
                        <a:spcBef>
                          <a:spcPts val="1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Null Imputation </a:t>
                      </a:r>
                      <a:endParaRPr b="1" sz="1600">
                        <a:solidFill>
                          <a:schemeClr val="dk1"/>
                        </a:solidFill>
                        <a:highlight>
                          <a:schemeClr val="lt1"/>
                        </a:highlight>
                      </a:endParaRPr>
                    </a:p>
                    <a:p>
                      <a:pPr indent="0" lvl="0" marL="292100" marR="292100" rtl="0" algn="l">
                        <a:lnSpc>
                          <a:spcPct val="115000"/>
                        </a:lnSpc>
                        <a:spcBef>
                          <a:spcPts val="1400"/>
                        </a:spcBef>
                        <a:spcAft>
                          <a:spcPts val="8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Data cleaning task measuring full-column scan efficiency and conditional replacement speed.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1" name="Google Shape;181;g3e6d8059ffb_0_158"/>
          <p:cNvSpPr txBox="1"/>
          <p:nvPr/>
        </p:nvSpPr>
        <p:spPr>
          <a:xfrm>
            <a:off x="390500" y="1346775"/>
            <a:ext cx="65163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These are operations performed for benchmarking - 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e6d8059ffb_0_1144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g3e6d8059ffb_0_1144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g3e6d8059ffb_0_1144"/>
          <p:cNvSpPr txBox="1"/>
          <p:nvPr/>
        </p:nvSpPr>
        <p:spPr>
          <a:xfrm>
            <a:off x="164000" y="1109750"/>
            <a:ext cx="85224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 Layer: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Two identical FastAPI application servers (Uvicorn) routing HTTP GET requests to their respective data processing backends.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Processing Layer (Pandas):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Implements synchronous endpoint functions (def), utilizing eager evaluation, in-memory object allocation, and single-threaded execution.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Processing Layer (Polars):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Implements out-of-core streaming (streaming=True), lazy execution graphs, and multithreaded processing restricted via POLARS_MAX_THREADS=2 to prevent event-loop contention.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Load Generation Layer: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Grafana k6 engine configured to simulate realistic concurrent virtual users (VUs) with defined ramp-up, sustained, and cooldown phases.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Telemetry &amp; Orchestration Layer: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master Python orchestrator that coordinates the starting/stopping of background resource monitors, fires the k6 scripts, and generates the final Matplotlib graphs.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e6d8059ffb_0_1151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g3e6d8059ffb_0_1151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" name="Google Shape;195;g3e6d8059ffb_0_1151"/>
          <p:cNvSpPr txBox="1"/>
          <p:nvPr/>
        </p:nvSpPr>
        <p:spPr>
          <a:xfrm>
            <a:off x="305400" y="1416622"/>
            <a:ext cx="8838600" cy="4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Memory Consumption &amp; OOM Stability while load testing during heavy join operation: 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g3e6d8059ffb_0_11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1975" y="2156537"/>
            <a:ext cx="4357325" cy="363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g3e6d8059ffb_0_1151"/>
          <p:cNvSpPr txBox="1"/>
          <p:nvPr/>
        </p:nvSpPr>
        <p:spPr>
          <a:xfrm>
            <a:off x="457200" y="2580725"/>
            <a:ext cx="3696000" cy="3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  <a:highlight>
                  <a:schemeClr val="lt1"/>
                </a:highlight>
              </a:rPr>
              <a:t>Pandas Bottleneck</a:t>
            </a:r>
            <a:br>
              <a:rPr lang="en-US" sz="20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-US" sz="1250">
                <a:solidFill>
                  <a:schemeClr val="dk1"/>
                </a:solidFill>
                <a:highlight>
                  <a:schemeClr val="lt1"/>
                </a:highlight>
              </a:rPr>
              <a:t>Exponential memory duplication during concurrent merges results in Out-Of-Memory (OOM) failures.</a:t>
            </a:r>
            <a:endParaRPr sz="12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highlight>
                  <a:schemeClr val="lt1"/>
                </a:highlight>
              </a:rPr>
              <a:t>Polars Advantage</a:t>
            </a:r>
            <a:endParaRPr b="1"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chemeClr val="dk1"/>
                </a:solidFill>
                <a:highlight>
                  <a:schemeClr val="lt1"/>
                </a:highlight>
              </a:rPr>
              <a:t>Lazy evaluation and out-of-core streaming maintain a dynamic, stable memory footprint under load.</a:t>
            </a:r>
            <a:endParaRPr sz="12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e6d8059ffb_0_164"/>
          <p:cNvSpPr txBox="1"/>
          <p:nvPr/>
        </p:nvSpPr>
        <p:spPr>
          <a:xfrm>
            <a:off x="457200" y="0"/>
            <a:ext cx="60195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90500" rtl="0" algn="l">
              <a:lnSpc>
                <a:spcPct val="115000"/>
              </a:lnSpc>
              <a:spcBef>
                <a:spcPts val="1800"/>
              </a:spcBef>
              <a:spcAft>
                <a:spcPts val="3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00">
                <a:solidFill>
                  <a:schemeClr val="dk1"/>
                </a:solidFill>
              </a:rPr>
              <a:t>Conclusion &amp; Recommendation</a:t>
            </a:r>
            <a:endParaRPr b="0" i="0" sz="2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g3e6d8059ffb_0_164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g3e6d8059ffb_0_164"/>
          <p:cNvSpPr txBox="1"/>
          <p:nvPr/>
        </p:nvSpPr>
        <p:spPr>
          <a:xfrm>
            <a:off x="152708" y="1323217"/>
            <a:ext cx="88386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3375" lvl="0" marL="457200" rtl="0" algn="l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50"/>
              <a:buAutoNum type="arabicPeriod"/>
            </a:pPr>
            <a:r>
              <a:rPr b="1" lang="en-US" sz="1650">
                <a:solidFill>
                  <a:schemeClr val="dk1"/>
                </a:solidFill>
              </a:rPr>
              <a:t>Architectural Superiority:</a:t>
            </a:r>
            <a:r>
              <a:rPr lang="en-US" sz="1650">
                <a:solidFill>
                  <a:schemeClr val="dk1"/>
                </a:solidFill>
              </a:rPr>
              <a:t> Polars' Rust-based multithreaded engine bypasses the Python GIL, making it essential for high-concurrency microservices.</a:t>
            </a:r>
            <a:endParaRPr sz="1650">
              <a:solidFill>
                <a:schemeClr val="dk1"/>
              </a:solidFill>
            </a:endParaRPr>
          </a:p>
          <a:p>
            <a:pPr indent="-333375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AutoNum type="arabicPeriod"/>
            </a:pPr>
            <a:r>
              <a:rPr b="1" lang="en-US" sz="1650">
                <a:solidFill>
                  <a:schemeClr val="dk1"/>
                </a:solidFill>
              </a:rPr>
              <a:t>Resource Efficiency:</a:t>
            </a:r>
            <a:r>
              <a:rPr lang="en-US" sz="1650">
                <a:solidFill>
                  <a:schemeClr val="dk1"/>
                </a:solidFill>
              </a:rPr>
              <a:t> Transitioning to lazy evaluation graphs reduces peak memory usage by over 50% compared to Pandas' eager model.</a:t>
            </a:r>
            <a:endParaRPr sz="1650">
              <a:solidFill>
                <a:schemeClr val="dk1"/>
              </a:solidFill>
            </a:endParaRPr>
          </a:p>
          <a:p>
            <a:pPr indent="-333375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AutoNum type="arabicPeriod"/>
            </a:pPr>
            <a:r>
              <a:rPr b="1" lang="en-US" sz="1650">
                <a:solidFill>
                  <a:schemeClr val="dk1"/>
                </a:solidFill>
              </a:rPr>
              <a:t>Scalability:</a:t>
            </a:r>
            <a:r>
              <a:rPr lang="en-US" sz="1650">
                <a:solidFill>
                  <a:schemeClr val="dk1"/>
                </a:solidFill>
              </a:rPr>
              <a:t> Polars survives severe stress tests (20+ concurrent users) where Pandas microservices experience catastrophic container failure.</a:t>
            </a:r>
            <a:endParaRPr sz="1650">
              <a:solidFill>
                <a:schemeClr val="dk1"/>
              </a:solidFill>
            </a:endParaRPr>
          </a:p>
          <a:p>
            <a:pPr indent="-333375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AutoNum type="arabicPeriod"/>
            </a:pPr>
            <a:r>
              <a:rPr b="1" lang="en-US" sz="1650">
                <a:solidFill>
                  <a:schemeClr val="dk1"/>
                </a:solidFill>
              </a:rPr>
              <a:t>The Verdict:</a:t>
            </a:r>
            <a:r>
              <a:rPr lang="en-US" sz="1650">
                <a:solidFill>
                  <a:schemeClr val="dk1"/>
                </a:solidFill>
              </a:rPr>
              <a:t> For real-time, data-intensive FastAPI microservices, Polars is the recommended production-grade DataFrame engine.</a:t>
            </a:r>
            <a:endParaRPr sz="16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10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0" i="0" sz="5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p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2010-04-09T07:36:15Z</dcterms:created>
  <dc:creator>ABC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